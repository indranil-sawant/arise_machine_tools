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15"/>
  </p:notesMasterIdLst>
  <p:sldIdLst>
    <p:sldId id="259" r:id="rId2"/>
    <p:sldId id="268" r:id="rId3"/>
    <p:sldId id="260" r:id="rId4"/>
    <p:sldId id="271" r:id="rId5"/>
    <p:sldId id="269" r:id="rId6"/>
    <p:sldId id="272" r:id="rId7"/>
    <p:sldId id="262" r:id="rId8"/>
    <p:sldId id="273" r:id="rId9"/>
    <p:sldId id="283" r:id="rId10"/>
    <p:sldId id="284" r:id="rId11"/>
    <p:sldId id="285" r:id="rId12"/>
    <p:sldId id="286" r:id="rId13"/>
    <p:sldId id="267" r:id="rId1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62" autoAdjust="0"/>
    <p:restoredTop sz="94624" autoAdjust="0"/>
  </p:normalViewPr>
  <p:slideViewPr>
    <p:cSldViewPr>
      <p:cViewPr varScale="1">
        <p:scale>
          <a:sx n="68" d="100"/>
          <a:sy n="68" d="100"/>
        </p:scale>
        <p:origin x="1440" y="6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466FD53-09FF-469E-AEA2-EE322EF9CEED}" type="datetimeFigureOut">
              <a:rPr lang="en-US" smtClean="0"/>
              <a:pPr/>
              <a:t>04-May-25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49DAD74-6569-4F4C-83AB-20593533998F}" type="slidenum">
              <a:rPr lang="en-US" smtClean="0"/>
              <a:pPr/>
              <a:t>‹#›</a:t>
            </a:fld>
            <a:endParaRPr lang="en-US"/>
          </a:p>
        </p:txBody>
      </p:sp>
    </p:spTree>
    <p:extLst>
      <p:ext uri="{BB962C8B-B14F-4D97-AF65-F5344CB8AC3E}">
        <p14:creationId xmlns:p14="http://schemas.microsoft.com/office/powerpoint/2010/main" val="33877137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a:t>Click to edit Master title style</a:t>
            </a:r>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1D8BD707-D9CF-40AE-B4C6-C98DA3205C09}" type="datetimeFigureOut">
              <a:rPr lang="en-US" smtClean="0"/>
              <a:pPr/>
              <a:t>04-May-25</a:t>
            </a:fld>
            <a:endParaRPr lang="en-US"/>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US"/>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04-May-25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7" name="Title 6"/>
          <p:cNvSpPr>
            <a:spLocks noGrp="1"/>
          </p:cNvSpPr>
          <p:nvPr>
            <p:ph type="title"/>
          </p:nvPr>
        </p:nvSpPr>
        <p:spPr/>
        <p:txBody>
          <a:bodyPr rtlCol="0"/>
          <a:lstStyle/>
          <a:p>
            <a:r>
              <a:rPr kumimoji="0" lang="en-US"/>
              <a:t>Click to edit Master title style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a:t>Click to edit Master title style</a:t>
            </a:r>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04-May-25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04-May-25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8" name="Title 7"/>
          <p:cNvSpPr>
            <a:spLocks noGrp="1"/>
          </p:cNvSpPr>
          <p:nvPr>
            <p:ph type="title"/>
          </p:nvPr>
        </p:nvSpPr>
        <p:spPr/>
        <p:txBody>
          <a:bodyPr rtlCol="0"/>
          <a:lstStyle/>
          <a:p>
            <a:r>
              <a:rPr kumimoji="0" lang="en-US"/>
              <a:t>Click to edit Master title style</a:t>
            </a:r>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a:t>Click to edit Master title style</a:t>
            </a:r>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1D8BD707-D9CF-40AE-B4C6-C98DA3205C09}" type="datetimeFigureOut">
              <a:rPr lang="en-US" smtClean="0"/>
              <a:pPr/>
              <a:t>04-May-25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1D8BD707-D9CF-40AE-B4C6-C98DA3205C09}" type="datetimeFigureOut">
              <a:rPr lang="en-US" smtClean="0"/>
              <a:pPr/>
              <a:t>04-May-25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
        <p:nvSpPr>
          <p:cNvPr id="6" name="Title 5"/>
          <p:cNvSpPr>
            <a:spLocks noGrp="1"/>
          </p:cNvSpPr>
          <p:nvPr>
            <p:ph type="title"/>
          </p:nvPr>
        </p:nvSpPr>
        <p:spPr/>
        <p:txBody>
          <a:bodyPr rtlCol="0"/>
          <a:lstStyle/>
          <a:p>
            <a:r>
              <a:rPr kumimoji="0" lang="en-US"/>
              <a:t>Click to edit Master title style</a:t>
            </a:r>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04-May-25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a:t>Click to edit Master title style</a:t>
            </a:r>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p>
            <a:fld id="{1D8BD707-D9CF-40AE-B4C6-C98DA3205C09}" type="datetimeFigureOut">
              <a:rPr lang="en-US" smtClean="0"/>
              <a:pPr/>
              <a:t>04-May-25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fld id="{1D8BD707-D9CF-40AE-B4C6-C98DA3205C09}" type="datetimeFigureOut">
              <a:rPr lang="en-US" smtClean="0"/>
              <a:pPr/>
              <a:t>04-May-25</a:t>
            </a:fld>
            <a:endParaRPr lang="en-US"/>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lang="en-US"/>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B6F15528-21DE-4FAA-801E-634DDDAF4B2B}" type="slidenum">
              <a:rPr lang="en-US" smtClean="0"/>
              <a:pPr/>
              <a:t>‹#›</a:t>
            </a:fld>
            <a:endParaRPr lang="en-US"/>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a:t>Click to edit Master title style</a:t>
            </a:r>
          </a:p>
        </p:txBody>
      </p:sp>
      <p:sp>
        <p:nvSpPr>
          <p:cNvPr id="8" name="Freeform 7"/>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Freeform 8"/>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ight Triangle 9"/>
          <p:cNvSpPr>
            <a:spLocks/>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a:xfrm>
            <a:off x="457200" y="1481329"/>
            <a:ext cx="8229600" cy="4386071"/>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04-May-25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41"/>
            <a:ext cx="6324600" cy="5592760"/>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04-May-25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Freeform 11"/>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Right Triangle 13"/>
          <p:cNvSpPr>
            <a:spLocks/>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p>
            <a:r>
              <a:rPr kumimoji="0" lang="en-US"/>
              <a:t>Click to edit Master title style</a:t>
            </a:r>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fld id="{1D8BD707-D9CF-40AE-B4C6-C98DA3205C09}" type="datetimeFigureOut">
              <a:rPr lang="en-US" smtClean="0"/>
              <a:pPr/>
              <a:t>04-May-25</a:t>
            </a:fld>
            <a:endParaRPr lang="en-US"/>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endParaRPr lang="en-US"/>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hyperlink" Target="mailto:arise.tools@gmail.com"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2.jpeg"/><Relationship Id="rId5" Type="http://schemas.openxmlformats.org/officeDocument/2006/relationships/image" Target="../media/image11.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2.jpe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2.jpeg"/><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en-US" sz="2800" b="1" dirty="0">
              <a:solidFill>
                <a:srgbClr val="00B0F0"/>
              </a:solidFill>
              <a:effectLst>
                <a:outerShdw blurRad="38100" dist="25400" dir="5400000" algn="tl" rotWithShape="0">
                  <a:srgbClr val="000000">
                    <a:alpha val="43000"/>
                  </a:srgbClr>
                </a:outerShdw>
              </a:effectLst>
              <a:latin typeface="Algerian" pitchFamily="82" charset="0"/>
            </a:endParaRPr>
          </a:p>
          <a:p>
            <a:endParaRPr lang="en-US" sz="2800" b="1" dirty="0">
              <a:solidFill>
                <a:srgbClr val="00B0F0"/>
              </a:solidFill>
              <a:effectLst>
                <a:outerShdw blurRad="38100" dist="25400" dir="5400000" algn="tl" rotWithShape="0">
                  <a:srgbClr val="000000">
                    <a:alpha val="43000"/>
                  </a:srgbClr>
                </a:outerShdw>
              </a:effectLst>
              <a:latin typeface="Algerian" pitchFamily="82" charset="0"/>
            </a:endParaRPr>
          </a:p>
          <a:p>
            <a:endParaRPr lang="en-US" sz="2800" b="1" dirty="0">
              <a:solidFill>
                <a:srgbClr val="00B0F0"/>
              </a:solidFill>
              <a:effectLst>
                <a:outerShdw blurRad="38100" dist="25400" dir="5400000" algn="tl" rotWithShape="0">
                  <a:srgbClr val="000000">
                    <a:alpha val="43000"/>
                  </a:srgbClr>
                </a:outerShdw>
              </a:effectLst>
              <a:latin typeface="Algerian" pitchFamily="82" charset="0"/>
            </a:endParaRPr>
          </a:p>
          <a:p>
            <a:endParaRPr lang="en-US" sz="2800" b="1" dirty="0">
              <a:solidFill>
                <a:srgbClr val="00B0F0"/>
              </a:solidFill>
              <a:effectLst>
                <a:outerShdw blurRad="38100" dist="25400" dir="5400000" algn="tl" rotWithShape="0">
                  <a:srgbClr val="000000">
                    <a:alpha val="43000"/>
                  </a:srgbClr>
                </a:outerShdw>
              </a:effectLst>
              <a:latin typeface="Algerian" pitchFamily="82" charset="0"/>
            </a:endParaRPr>
          </a:p>
          <a:p>
            <a:pPr algn="ctr">
              <a:buNone/>
            </a:pPr>
            <a:r>
              <a:rPr lang="en-US" sz="5400" b="1" u="sng" dirty="0">
                <a:solidFill>
                  <a:srgbClr val="00B0F0"/>
                </a:solidFill>
                <a:effectLst>
                  <a:outerShdw blurRad="38100" dist="25400" dir="5400000" algn="tl" rotWithShape="0">
                    <a:srgbClr val="000000">
                      <a:alpha val="43000"/>
                    </a:srgbClr>
                  </a:outerShdw>
                </a:effectLst>
                <a:latin typeface="Algerian" pitchFamily="82" charset="0"/>
              </a:rPr>
              <a:t>ARISE MACHINE TOOLS SOLUTIONS</a:t>
            </a:r>
          </a:p>
          <a:p>
            <a:endParaRPr lang="en-US" dirty="0"/>
          </a:p>
        </p:txBody>
      </p:sp>
      <p:pic>
        <p:nvPicPr>
          <p:cNvPr id="5" name="Picture 4" descr="IMG-20171105-WA0046.jpg"/>
          <p:cNvPicPr>
            <a:picLocks noChangeAspect="1"/>
          </p:cNvPicPr>
          <p:nvPr/>
        </p:nvPicPr>
        <p:blipFill>
          <a:blip r:embed="rId2" cstate="print"/>
          <a:stretch>
            <a:fillRect/>
          </a:stretch>
        </p:blipFill>
        <p:spPr>
          <a:xfrm>
            <a:off x="8244000" y="0"/>
            <a:ext cx="900000" cy="900000"/>
          </a:xfrm>
          <a:prstGeom prst="rect">
            <a:avLst/>
          </a:prstGeom>
        </p:spPr>
      </p:pic>
      <p:pic>
        <p:nvPicPr>
          <p:cNvPr id="6" name="Picture 5" descr="IMG-20171105-WA0046.jpg"/>
          <p:cNvPicPr>
            <a:picLocks noChangeAspect="1"/>
          </p:cNvPicPr>
          <p:nvPr/>
        </p:nvPicPr>
        <p:blipFill>
          <a:blip r:embed="rId3" cstate="print"/>
          <a:stretch>
            <a:fillRect/>
          </a:stretch>
        </p:blipFill>
        <p:spPr>
          <a:xfrm>
            <a:off x="2667000" y="0"/>
            <a:ext cx="3429000" cy="3429000"/>
          </a:xfrm>
          <a:prstGeom prst="rect">
            <a:avLst/>
          </a:prstGeom>
        </p:spPr>
      </p:pic>
    </p:spTree>
  </p:cSld>
  <p:clrMapOvr>
    <a:masterClrMapping/>
  </p:clrMapOvr>
  <p:transition>
    <p:circl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77500" lnSpcReduction="20000"/>
          </a:bodyPr>
          <a:lstStyle/>
          <a:p>
            <a:pPr>
              <a:buNone/>
            </a:pPr>
            <a:r>
              <a:rPr lang="en-US" b="1" u="sng" dirty="0">
                <a:solidFill>
                  <a:srgbClr val="00B050"/>
                </a:solidFill>
              </a:rPr>
              <a:t>SOLUTIONS FOR</a:t>
            </a:r>
          </a:p>
          <a:p>
            <a:r>
              <a:rPr lang="en-US" dirty="0">
                <a:solidFill>
                  <a:srgbClr val="00B0F0"/>
                </a:solidFill>
              </a:rPr>
              <a:t>SPECIAL TOOLS FOR CNC, VMC, HMC AND SPECIAL PURPOSE MACHINES (TURNING TOOL HOLDERS, ANTI VIBRATION BORING BAR, BORING TOOLS, MILLING CUTTERS, INSERTED U DRILL, INSERTED END MILL)</a:t>
            </a:r>
          </a:p>
          <a:p>
            <a:r>
              <a:rPr lang="en-US" dirty="0">
                <a:solidFill>
                  <a:srgbClr val="00B0F0"/>
                </a:solidFill>
              </a:rPr>
              <a:t>CARBIDE CUTTING TOOLS FOR MACHINING OPERATION (INSERTS, CARBIDE DRILLS, CARBIDE END MILL, CARBIDE BALL NOSE)</a:t>
            </a:r>
          </a:p>
          <a:p>
            <a:r>
              <a:rPr lang="en-US" dirty="0">
                <a:solidFill>
                  <a:srgbClr val="00B0F0"/>
                </a:solidFill>
              </a:rPr>
              <a:t>TOOL HOLDING SYSTEMS (ADAPTORS, COLLETS, SPARES FOR TOOL HOLDING SYSTEMS) </a:t>
            </a:r>
          </a:p>
          <a:p>
            <a:r>
              <a:rPr lang="en-US" dirty="0">
                <a:solidFill>
                  <a:srgbClr val="00B0F0"/>
                </a:solidFill>
              </a:rPr>
              <a:t>CRITICAL MACHINING PARTS</a:t>
            </a:r>
          </a:p>
          <a:p>
            <a:r>
              <a:rPr lang="en-US" dirty="0">
                <a:solidFill>
                  <a:srgbClr val="00B0F0"/>
                </a:solidFill>
              </a:rPr>
              <a:t>REPAIR AND RECONDITIONING OF LEAD SCREW, SLIDES AND BALL SCREWS.</a:t>
            </a:r>
          </a:p>
          <a:p>
            <a:r>
              <a:rPr lang="en-US" dirty="0">
                <a:solidFill>
                  <a:srgbClr val="00B0F0"/>
                </a:solidFill>
              </a:rPr>
              <a:t>SUPPLY OF INDUSTRIAL CUTTING OIL, ANTI RUST OIL, RUST PREVENTION OIL ETC.</a:t>
            </a:r>
          </a:p>
          <a:p>
            <a:pPr>
              <a:buNone/>
            </a:pPr>
            <a:endParaRPr lang="en-US" dirty="0"/>
          </a:p>
        </p:txBody>
      </p:sp>
      <p:sp>
        <p:nvSpPr>
          <p:cNvPr id="3" name="Title 2"/>
          <p:cNvSpPr>
            <a:spLocks noGrp="1"/>
          </p:cNvSpPr>
          <p:nvPr>
            <p:ph type="title"/>
          </p:nvPr>
        </p:nvSpPr>
        <p:spPr/>
        <p:txBody>
          <a:bodyPr>
            <a:normAutofit fontScale="90000"/>
          </a:bodyPr>
          <a:lstStyle/>
          <a:p>
            <a:br>
              <a:rPr lang="en-US" sz="4400" u="sng" dirty="0">
                <a:solidFill>
                  <a:srgbClr val="00B0F0"/>
                </a:solidFill>
                <a:effectLst>
                  <a:outerShdw blurRad="38100" dist="25400" dir="5400000" algn="tl" rotWithShape="0">
                    <a:srgbClr val="000000">
                      <a:alpha val="43000"/>
                    </a:srgbClr>
                  </a:outerShdw>
                </a:effectLst>
                <a:latin typeface="Algerian" pitchFamily="82" charset="0"/>
              </a:rPr>
            </a:br>
            <a:r>
              <a:rPr lang="en-US" sz="4400" u="sng" dirty="0">
                <a:solidFill>
                  <a:srgbClr val="00B0F0"/>
                </a:solidFill>
                <a:effectLst>
                  <a:outerShdw blurRad="38100" dist="25400" dir="5400000" algn="tl" rotWithShape="0">
                    <a:srgbClr val="000000">
                      <a:alpha val="43000"/>
                    </a:srgbClr>
                  </a:outerShdw>
                </a:effectLst>
                <a:latin typeface="Algerian" pitchFamily="82" charset="0"/>
              </a:rPr>
              <a:t>ARISE MACHINE TOOLS SOLUTIONS</a:t>
            </a:r>
          </a:p>
        </p:txBody>
      </p:sp>
      <p:pic>
        <p:nvPicPr>
          <p:cNvPr id="5" name="Picture 4" descr="IMG-20171105-WA0046.jpg"/>
          <p:cNvPicPr>
            <a:picLocks noChangeAspect="1"/>
          </p:cNvPicPr>
          <p:nvPr/>
        </p:nvPicPr>
        <p:blipFill>
          <a:blip r:embed="rId2" cstate="print"/>
          <a:stretch>
            <a:fillRect/>
          </a:stretch>
        </p:blipFill>
        <p:spPr>
          <a:xfrm>
            <a:off x="8244000" y="0"/>
            <a:ext cx="900000" cy="900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10000"/>
          </a:bodyPr>
          <a:lstStyle/>
          <a:p>
            <a:r>
              <a:rPr lang="en-IN" dirty="0"/>
              <a:t>To be the world’s most reliable and innovative manufacturer, service and</a:t>
            </a:r>
            <a:r>
              <a:rPr lang="en-US" dirty="0"/>
              <a:t> </a:t>
            </a:r>
            <a:r>
              <a:rPr lang="en-IN" dirty="0"/>
              <a:t>Solutions provider in the industry.</a:t>
            </a:r>
          </a:p>
          <a:p>
            <a:pPr>
              <a:buNone/>
            </a:pPr>
            <a:endParaRPr lang="en-US" dirty="0"/>
          </a:p>
          <a:p>
            <a:r>
              <a:rPr lang="en-IN" dirty="0"/>
              <a:t>To supply high-quality  products, providing related services and solutions to a worldwide client base while utilizing innovative technologies within an environment of motivated employees, focused on continuous improvement,</a:t>
            </a:r>
            <a:r>
              <a:rPr lang="en-US" dirty="0"/>
              <a:t> </a:t>
            </a:r>
            <a:r>
              <a:rPr lang="en-IN" dirty="0"/>
              <a:t>highest business standards, work ethics and corporate citizenship, leading to added value for our customers.</a:t>
            </a:r>
            <a:endParaRPr lang="en-US" dirty="0"/>
          </a:p>
          <a:p>
            <a:pPr>
              <a:buNone/>
            </a:pPr>
            <a:endParaRPr lang="en-US" dirty="0"/>
          </a:p>
          <a:p>
            <a:pPr>
              <a:buNone/>
            </a:pPr>
            <a:endParaRPr lang="en-US" dirty="0"/>
          </a:p>
          <a:p>
            <a:pPr>
              <a:buNone/>
            </a:pPr>
            <a:endParaRPr lang="en-US" dirty="0"/>
          </a:p>
          <a:p>
            <a:pPr>
              <a:buNone/>
            </a:pPr>
            <a:endParaRPr lang="en-US" dirty="0"/>
          </a:p>
        </p:txBody>
      </p:sp>
      <p:sp>
        <p:nvSpPr>
          <p:cNvPr id="3" name="Title 2"/>
          <p:cNvSpPr>
            <a:spLocks noGrp="1"/>
          </p:cNvSpPr>
          <p:nvPr>
            <p:ph type="title"/>
          </p:nvPr>
        </p:nvSpPr>
        <p:spPr/>
        <p:txBody>
          <a:bodyPr>
            <a:normAutofit fontScale="90000"/>
          </a:bodyPr>
          <a:lstStyle/>
          <a:p>
            <a:pPr algn="ctr"/>
            <a:r>
              <a:rPr lang="en-US" u="sng" dirty="0">
                <a:solidFill>
                  <a:srgbClr val="00B0F0"/>
                </a:solidFill>
                <a:latin typeface="Algerian" pitchFamily="82" charset="0"/>
              </a:rPr>
              <a:t>           </a:t>
            </a:r>
            <a:br>
              <a:rPr lang="en-US" u="sng" dirty="0">
                <a:solidFill>
                  <a:srgbClr val="00B0F0"/>
                </a:solidFill>
                <a:latin typeface="Algerian" pitchFamily="82" charset="0"/>
              </a:rPr>
            </a:br>
            <a:r>
              <a:rPr lang="en-US" u="sng" dirty="0">
                <a:solidFill>
                  <a:srgbClr val="00B0F0"/>
                </a:solidFill>
                <a:latin typeface="Algerian" pitchFamily="82" charset="0"/>
              </a:rPr>
              <a:t>OUR VISION AND MISSION</a:t>
            </a:r>
          </a:p>
        </p:txBody>
      </p:sp>
      <p:pic>
        <p:nvPicPr>
          <p:cNvPr id="5" name="Picture 4" descr="http://www.sandvik.com/Global/Careers%20old/pics/openmind_small.jpg"/>
          <p:cNvPicPr/>
          <p:nvPr/>
        </p:nvPicPr>
        <p:blipFill>
          <a:blip r:embed="rId2"/>
          <a:srcRect/>
          <a:stretch>
            <a:fillRect/>
          </a:stretch>
        </p:blipFill>
        <p:spPr bwMode="auto">
          <a:xfrm>
            <a:off x="304800" y="457200"/>
            <a:ext cx="952500" cy="933450"/>
          </a:xfrm>
          <a:prstGeom prst="rect">
            <a:avLst/>
          </a:prstGeom>
          <a:noFill/>
        </p:spPr>
      </p:pic>
      <p:pic>
        <p:nvPicPr>
          <p:cNvPr id="6" name="Picture 5" descr="IMG-20171105-WA0046.jpg"/>
          <p:cNvPicPr>
            <a:picLocks noChangeAspect="1"/>
          </p:cNvPicPr>
          <p:nvPr/>
        </p:nvPicPr>
        <p:blipFill>
          <a:blip r:embed="rId3" cstate="print"/>
          <a:stretch>
            <a:fillRect/>
          </a:stretch>
        </p:blipFill>
        <p:spPr>
          <a:xfrm>
            <a:off x="8244000" y="0"/>
            <a:ext cx="900000" cy="900000"/>
          </a:xfrm>
          <a:prstGeom prst="rect">
            <a:avLst/>
          </a:prstGeom>
        </p:spPr>
      </p:pic>
    </p:spTree>
  </p:cSld>
  <p:clrMapOvr>
    <a:masterClrMapping/>
  </p:clrMapOvr>
  <p:transition>
    <p:pull dir="d"/>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IN" dirty="0"/>
              <a:t>Within the </a:t>
            </a:r>
            <a:r>
              <a:rPr lang="en-US" b="1" dirty="0">
                <a:solidFill>
                  <a:srgbClr val="00B0F0"/>
                </a:solidFill>
              </a:rPr>
              <a:t>ARISE MACHINE TOOLS SOLUTIONS</a:t>
            </a:r>
            <a:r>
              <a:rPr lang="en-IN" dirty="0"/>
              <a:t>, we act together as one team. </a:t>
            </a:r>
            <a:endParaRPr lang="en-US" dirty="0"/>
          </a:p>
          <a:p>
            <a:endParaRPr lang="en-IN" dirty="0"/>
          </a:p>
          <a:p>
            <a:r>
              <a:rPr lang="en-IN" dirty="0"/>
              <a:t>Our team vision also includes close co-Operation and relationships with customers.</a:t>
            </a:r>
          </a:p>
          <a:p>
            <a:endParaRPr lang="en-IN" dirty="0"/>
          </a:p>
          <a:p>
            <a:r>
              <a:rPr lang="en-IN" dirty="0"/>
              <a:t>Experience Man Force of Technical, Electrical, and Operations acting as ONE TEAM. </a:t>
            </a:r>
            <a:endParaRPr lang="en-US" dirty="0"/>
          </a:p>
          <a:p>
            <a:pPr>
              <a:buNone/>
            </a:pPr>
            <a:endParaRPr lang="en-US" dirty="0"/>
          </a:p>
          <a:p>
            <a:pPr>
              <a:buNone/>
            </a:pPr>
            <a:endParaRPr lang="en-US" dirty="0"/>
          </a:p>
          <a:p>
            <a:pPr>
              <a:buNone/>
            </a:pPr>
            <a:endParaRPr lang="en-US" dirty="0"/>
          </a:p>
          <a:p>
            <a:pPr>
              <a:buNone/>
            </a:pPr>
            <a:endParaRPr lang="en-US" dirty="0"/>
          </a:p>
        </p:txBody>
      </p:sp>
      <p:sp>
        <p:nvSpPr>
          <p:cNvPr id="3" name="Title 2"/>
          <p:cNvSpPr>
            <a:spLocks noGrp="1"/>
          </p:cNvSpPr>
          <p:nvPr>
            <p:ph type="title"/>
          </p:nvPr>
        </p:nvSpPr>
        <p:spPr/>
        <p:txBody>
          <a:bodyPr>
            <a:normAutofit/>
          </a:bodyPr>
          <a:lstStyle/>
          <a:p>
            <a:pPr algn="ctr"/>
            <a:r>
              <a:rPr lang="en-US" u="sng" dirty="0">
                <a:solidFill>
                  <a:srgbClr val="00B0F0"/>
                </a:solidFill>
                <a:latin typeface="Algerian" pitchFamily="82" charset="0"/>
              </a:rPr>
              <a:t>Team  Spirit</a:t>
            </a:r>
          </a:p>
        </p:txBody>
      </p:sp>
      <p:pic>
        <p:nvPicPr>
          <p:cNvPr id="5" name="Picture 4" descr="http://www.sandvik.com/Global/Careers%20old/pics/teamspirit_small.jpg"/>
          <p:cNvPicPr/>
          <p:nvPr/>
        </p:nvPicPr>
        <p:blipFill>
          <a:blip r:embed="rId2"/>
          <a:srcRect/>
          <a:stretch>
            <a:fillRect/>
          </a:stretch>
        </p:blipFill>
        <p:spPr bwMode="auto">
          <a:xfrm>
            <a:off x="762000" y="381000"/>
            <a:ext cx="950026" cy="938150"/>
          </a:xfrm>
          <a:prstGeom prst="rect">
            <a:avLst/>
          </a:prstGeom>
          <a:noFill/>
        </p:spPr>
      </p:pic>
      <p:pic>
        <p:nvPicPr>
          <p:cNvPr id="6" name="Picture 5" descr="IMG-20171105-WA0046.jpg"/>
          <p:cNvPicPr>
            <a:picLocks noChangeAspect="1"/>
          </p:cNvPicPr>
          <p:nvPr/>
        </p:nvPicPr>
        <p:blipFill>
          <a:blip r:embed="rId3" cstate="print"/>
          <a:stretch>
            <a:fillRect/>
          </a:stretch>
        </p:blipFill>
        <p:spPr>
          <a:xfrm>
            <a:off x="8244000" y="0"/>
            <a:ext cx="900000" cy="900000"/>
          </a:xfrm>
          <a:prstGeom prst="rect">
            <a:avLst/>
          </a:prstGeom>
        </p:spPr>
      </p:pic>
    </p:spTree>
  </p:cSld>
  <p:clrMapOvr>
    <a:masterClrMapping/>
  </p:clrMapOvr>
  <p:transition>
    <p:wipe dir="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85000" lnSpcReduction="20000"/>
          </a:bodyPr>
          <a:lstStyle/>
          <a:p>
            <a:r>
              <a:rPr lang="en-IN" dirty="0"/>
              <a:t>The company led by Mr.NASIRHUSEN MAHABARI is dedicated to provide quality solutions to all of its customers. This has been achieved through knowledgeable employees who believe that integrity matters, hard work, and excellent service. </a:t>
            </a:r>
          </a:p>
          <a:p>
            <a:endParaRPr lang="en-IN" b="1" dirty="0"/>
          </a:p>
          <a:p>
            <a:r>
              <a:rPr lang="en-US" b="1" dirty="0">
                <a:solidFill>
                  <a:srgbClr val="00B0F0"/>
                </a:solidFill>
              </a:rPr>
              <a:t>ARISE MACHINE TOOLS SOLUTIONS </a:t>
            </a:r>
            <a:r>
              <a:rPr lang="en-IN" dirty="0"/>
              <a:t>and its team of dedicated professional staff are committed to provide exceptional service which includes excellence in every aspect.</a:t>
            </a:r>
            <a:endParaRPr lang="en-US" dirty="0"/>
          </a:p>
          <a:p>
            <a:pPr>
              <a:buNone/>
            </a:pPr>
            <a:endParaRPr lang="en-US" dirty="0"/>
          </a:p>
          <a:p>
            <a:r>
              <a:rPr lang="en-IN" dirty="0"/>
              <a:t>We believe in Quality bringing steel close to the every need of Customers and development growth at industrial.</a:t>
            </a:r>
            <a:endParaRPr lang="en-US" dirty="0"/>
          </a:p>
          <a:p>
            <a:pPr>
              <a:buNone/>
            </a:pPr>
            <a:endParaRPr lang="en-US" dirty="0"/>
          </a:p>
          <a:p>
            <a:pPr>
              <a:buNone/>
            </a:pPr>
            <a:endParaRPr lang="en-US" dirty="0"/>
          </a:p>
          <a:p>
            <a:pPr>
              <a:buNone/>
            </a:pPr>
            <a:endParaRPr lang="en-US" dirty="0"/>
          </a:p>
          <a:p>
            <a:pPr>
              <a:buNone/>
            </a:pPr>
            <a:endParaRPr lang="en-US" dirty="0"/>
          </a:p>
        </p:txBody>
      </p:sp>
      <p:sp>
        <p:nvSpPr>
          <p:cNvPr id="3" name="Title 2"/>
          <p:cNvSpPr>
            <a:spLocks noGrp="1"/>
          </p:cNvSpPr>
          <p:nvPr>
            <p:ph type="title"/>
          </p:nvPr>
        </p:nvSpPr>
        <p:spPr/>
        <p:txBody>
          <a:bodyPr/>
          <a:lstStyle/>
          <a:p>
            <a:pPr algn="ctr"/>
            <a:r>
              <a:rPr lang="en-US" u="sng" dirty="0">
                <a:solidFill>
                  <a:srgbClr val="00B0F0"/>
                </a:solidFill>
                <a:latin typeface="Algerian" pitchFamily="82" charset="0"/>
              </a:rPr>
              <a:t>quality  POLICY</a:t>
            </a:r>
          </a:p>
        </p:txBody>
      </p:sp>
      <p:pic>
        <p:nvPicPr>
          <p:cNvPr id="5" name="Picture 4" descr="http://www.macroof.in/images/pages/quality.jpg"/>
          <p:cNvPicPr/>
          <p:nvPr/>
        </p:nvPicPr>
        <p:blipFill>
          <a:blip r:embed="rId2">
            <a:extLst>
              <a:ext uri="{28A0092B-C50C-407E-A947-70E740481C1C}">
                <a14:useLocalDpi xmlns:a14="http://schemas.microsoft.com/office/drawing/2010/main" val="0"/>
              </a:ext>
            </a:extLst>
          </a:blip>
          <a:srcRect/>
          <a:stretch>
            <a:fillRect/>
          </a:stretch>
        </p:blipFill>
        <p:spPr bwMode="auto">
          <a:xfrm>
            <a:off x="152400" y="228600"/>
            <a:ext cx="2381885" cy="1148080"/>
          </a:xfrm>
          <a:prstGeom prst="rect">
            <a:avLst/>
          </a:prstGeom>
          <a:noFill/>
          <a:ln>
            <a:noFill/>
          </a:ln>
        </p:spPr>
      </p:pic>
      <p:pic>
        <p:nvPicPr>
          <p:cNvPr id="6" name="Picture 5" descr="IMG-20171105-WA0046.jpg"/>
          <p:cNvPicPr>
            <a:picLocks noChangeAspect="1"/>
          </p:cNvPicPr>
          <p:nvPr/>
        </p:nvPicPr>
        <p:blipFill>
          <a:blip r:embed="rId3" cstate="print"/>
          <a:stretch>
            <a:fillRect/>
          </a:stretch>
        </p:blipFill>
        <p:spPr>
          <a:xfrm>
            <a:off x="8244000" y="0"/>
            <a:ext cx="900000" cy="900000"/>
          </a:xfrm>
          <a:prstGeom prst="rect">
            <a:avLst/>
          </a:prstGeom>
        </p:spPr>
      </p:pic>
    </p:spTree>
  </p:cSld>
  <p:clrMapOvr>
    <a:masterClrMapping/>
  </p:clrMapOvr>
  <p:transition>
    <p:wipe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62500" lnSpcReduction="20000"/>
          </a:bodyPr>
          <a:lstStyle/>
          <a:p>
            <a:r>
              <a:rPr lang="en-IN" dirty="0"/>
              <a:t>We are committed to provide Safe and healthy working environment to all employees and our customers as an integral part of business</a:t>
            </a:r>
          </a:p>
          <a:p>
            <a:pPr>
              <a:buNone/>
            </a:pPr>
            <a:endParaRPr lang="en-IN" dirty="0"/>
          </a:p>
          <a:p>
            <a:pPr>
              <a:buNone/>
            </a:pPr>
            <a:r>
              <a:rPr lang="en-IN" dirty="0"/>
              <a:t>Our Motto at our site is Safety, Quality and Progress.	</a:t>
            </a:r>
            <a:endParaRPr lang="en-US" dirty="0"/>
          </a:p>
          <a:p>
            <a:pPr>
              <a:buNone/>
            </a:pPr>
            <a:endParaRPr lang="en-US" dirty="0"/>
          </a:p>
          <a:p>
            <a:pPr lvl="0"/>
            <a:r>
              <a:rPr lang="en-IN" dirty="0"/>
              <a:t>We will ensure safety and health of our employees by creating awareness among them.</a:t>
            </a:r>
            <a:endParaRPr lang="en-US" dirty="0"/>
          </a:p>
          <a:p>
            <a:pPr lvl="0"/>
            <a:r>
              <a:rPr lang="en-IN" dirty="0"/>
              <a:t>We will provide them with necessary training to achieve our safety goals. </a:t>
            </a:r>
            <a:endParaRPr lang="en-US" dirty="0"/>
          </a:p>
          <a:p>
            <a:pPr lvl="0"/>
            <a:r>
              <a:rPr lang="en-IN" dirty="0"/>
              <a:t>We will minimize accident by eliminating all unsafe acts and unsafe conditions.</a:t>
            </a:r>
            <a:endParaRPr lang="en-US" dirty="0"/>
          </a:p>
          <a:p>
            <a:pPr lvl="0"/>
            <a:r>
              <a:rPr lang="en-IN" dirty="0"/>
              <a:t>We will minimize risk of person and material by adopting safe methods.  </a:t>
            </a:r>
            <a:endParaRPr lang="en-US" dirty="0"/>
          </a:p>
          <a:p>
            <a:pPr lvl="0"/>
            <a:r>
              <a:rPr lang="en-IN" dirty="0"/>
              <a:t>We will comply with all safety rules and regulations.</a:t>
            </a:r>
            <a:endParaRPr lang="en-US" dirty="0"/>
          </a:p>
          <a:p>
            <a:pPr lvl="0"/>
            <a:r>
              <a:rPr lang="en-IN" dirty="0"/>
              <a:t>We will minimize air, water, and noise pollution by using environment friendly equipment’s.</a:t>
            </a:r>
            <a:endParaRPr lang="en-US" dirty="0"/>
          </a:p>
          <a:p>
            <a:pPr lvl="0"/>
            <a:r>
              <a:rPr lang="en-IN" dirty="0"/>
              <a:t>We will give top priority to safety, quality during production and execution</a:t>
            </a:r>
            <a:endParaRPr lang="en-US" dirty="0"/>
          </a:p>
          <a:p>
            <a:pPr>
              <a:buNone/>
            </a:pPr>
            <a:endParaRPr lang="en-US" dirty="0"/>
          </a:p>
          <a:p>
            <a:pPr>
              <a:buNone/>
            </a:pPr>
            <a:endParaRPr lang="en-US" dirty="0"/>
          </a:p>
          <a:p>
            <a:pPr>
              <a:buNone/>
            </a:pPr>
            <a:endParaRPr lang="en-US" dirty="0"/>
          </a:p>
          <a:p>
            <a:pPr>
              <a:buNone/>
            </a:pPr>
            <a:endParaRPr lang="en-US" dirty="0"/>
          </a:p>
        </p:txBody>
      </p:sp>
      <p:sp>
        <p:nvSpPr>
          <p:cNvPr id="3" name="Title 2"/>
          <p:cNvSpPr>
            <a:spLocks noGrp="1"/>
          </p:cNvSpPr>
          <p:nvPr>
            <p:ph type="title"/>
          </p:nvPr>
        </p:nvSpPr>
        <p:spPr/>
        <p:txBody>
          <a:bodyPr>
            <a:normAutofit/>
          </a:bodyPr>
          <a:lstStyle/>
          <a:p>
            <a:pPr algn="ctr"/>
            <a:r>
              <a:rPr lang="en-US" u="sng" dirty="0">
                <a:solidFill>
                  <a:srgbClr val="00B0F0"/>
                </a:solidFill>
                <a:latin typeface="Algerian" pitchFamily="82" charset="0"/>
              </a:rPr>
              <a:t>Safety  Policy</a:t>
            </a:r>
          </a:p>
        </p:txBody>
      </p:sp>
      <p:pic>
        <p:nvPicPr>
          <p:cNvPr id="6" name="Picture 5" descr="C:\Users\HCL\Desktop\imagesCAQP27RZ.jpg"/>
          <p:cNvPicPr/>
          <p:nvPr/>
        </p:nvPicPr>
        <p:blipFill>
          <a:blip r:embed="rId2">
            <a:extLst>
              <a:ext uri="{28A0092B-C50C-407E-A947-70E740481C1C}">
                <a14:useLocalDpi xmlns:a14="http://schemas.microsoft.com/office/drawing/2010/main" val="0"/>
              </a:ext>
            </a:extLst>
          </a:blip>
          <a:srcRect/>
          <a:stretch>
            <a:fillRect/>
          </a:stretch>
        </p:blipFill>
        <p:spPr bwMode="auto">
          <a:xfrm>
            <a:off x="685800" y="0"/>
            <a:ext cx="1008958" cy="1414130"/>
          </a:xfrm>
          <a:prstGeom prst="rect">
            <a:avLst/>
          </a:prstGeom>
          <a:noFill/>
          <a:ln>
            <a:noFill/>
          </a:ln>
        </p:spPr>
      </p:pic>
      <p:pic>
        <p:nvPicPr>
          <p:cNvPr id="7" name="Picture 6" descr="IMG-20171105-WA0046.jpg"/>
          <p:cNvPicPr>
            <a:picLocks noChangeAspect="1"/>
          </p:cNvPicPr>
          <p:nvPr/>
        </p:nvPicPr>
        <p:blipFill>
          <a:blip r:embed="rId3" cstate="print"/>
          <a:stretch>
            <a:fillRect/>
          </a:stretch>
        </p:blipFill>
        <p:spPr>
          <a:xfrm>
            <a:off x="8244000" y="0"/>
            <a:ext cx="900000" cy="900000"/>
          </a:xfrm>
          <a:prstGeom prst="rect">
            <a:avLst/>
          </a:prstGeom>
        </p:spPr>
      </p:pic>
    </p:spTree>
  </p:cSld>
  <p:clrMapOvr>
    <a:masterClrMapping/>
  </p:clrMapOvr>
  <p:transition>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28600" y="1295400"/>
            <a:ext cx="8153400" cy="4648200"/>
          </a:xfrm>
        </p:spPr>
        <p:txBody>
          <a:bodyPr>
            <a:normAutofit fontScale="70000" lnSpcReduction="20000"/>
          </a:bodyPr>
          <a:lstStyle/>
          <a:p>
            <a:pPr>
              <a:buNone/>
            </a:pPr>
            <a:r>
              <a:rPr lang="en-US" sz="2000" b="1" u="sng" dirty="0"/>
              <a:t>Work-</a:t>
            </a:r>
            <a:r>
              <a:rPr lang="en-US" sz="2000" dirty="0"/>
              <a:t> </a:t>
            </a:r>
          </a:p>
          <a:p>
            <a:pPr>
              <a:buNone/>
            </a:pPr>
            <a:r>
              <a:rPr lang="en-US" sz="2000" dirty="0"/>
              <a:t>GAT NO 1403, LATE SHREE KASHINATH INDUSTRIAL ESTATE, SHOP NO 02/03</a:t>
            </a:r>
          </a:p>
          <a:p>
            <a:pPr>
              <a:buNone/>
            </a:pPr>
            <a:r>
              <a:rPr lang="en-US" sz="2000" dirty="0"/>
              <a:t>CHIKHALI-SONWANE WASTI ROAD,,</a:t>
            </a:r>
          </a:p>
          <a:p>
            <a:pPr>
              <a:buNone/>
            </a:pPr>
            <a:r>
              <a:rPr lang="en-US" sz="2000" dirty="0"/>
              <a:t>TALAWADE</a:t>
            </a:r>
          </a:p>
          <a:p>
            <a:pPr>
              <a:buNone/>
            </a:pPr>
            <a:r>
              <a:rPr lang="en-US" sz="2000" dirty="0"/>
              <a:t>PUNE - 411062</a:t>
            </a:r>
          </a:p>
          <a:p>
            <a:pPr>
              <a:buNone/>
            </a:pPr>
            <a:r>
              <a:rPr lang="en-US" sz="2000" dirty="0"/>
              <a:t>MAHARASHTRA, </a:t>
            </a:r>
          </a:p>
          <a:p>
            <a:pPr>
              <a:buNone/>
            </a:pPr>
            <a:r>
              <a:rPr lang="en-US" sz="2000" dirty="0"/>
              <a:t>INDIA</a:t>
            </a:r>
          </a:p>
          <a:p>
            <a:pPr>
              <a:buNone/>
            </a:pPr>
            <a:endParaRPr lang="en-US" sz="2000" dirty="0"/>
          </a:p>
          <a:p>
            <a:pPr>
              <a:buNone/>
            </a:pPr>
            <a:r>
              <a:rPr lang="en-US" sz="2000" b="1" u="sng" dirty="0"/>
              <a:t>Office – </a:t>
            </a:r>
          </a:p>
          <a:p>
            <a:pPr>
              <a:buNone/>
            </a:pPr>
            <a:r>
              <a:rPr lang="en-US" sz="2000" dirty="0"/>
              <a:t>E 605, SAI EXOTIQUE, GAT NO 1660/1,</a:t>
            </a:r>
          </a:p>
          <a:p>
            <a:pPr>
              <a:buNone/>
            </a:pPr>
            <a:r>
              <a:rPr lang="en-US" sz="2000" dirty="0"/>
              <a:t>BAG VASTI, PATIL NAGAR,</a:t>
            </a:r>
          </a:p>
          <a:p>
            <a:pPr>
              <a:buNone/>
            </a:pPr>
            <a:r>
              <a:rPr lang="en-US" sz="2000" dirty="0"/>
              <a:t>CHIKHALI, PUNE - 411062</a:t>
            </a:r>
          </a:p>
          <a:p>
            <a:pPr>
              <a:buNone/>
            </a:pPr>
            <a:r>
              <a:rPr lang="en-US" sz="2000" dirty="0"/>
              <a:t>MAHARASHTRA, </a:t>
            </a:r>
          </a:p>
          <a:p>
            <a:pPr>
              <a:buNone/>
            </a:pPr>
            <a:r>
              <a:rPr lang="en-US" sz="2000" dirty="0"/>
              <a:t>INDIA</a:t>
            </a:r>
          </a:p>
          <a:p>
            <a:pPr>
              <a:buNone/>
            </a:pPr>
            <a:endParaRPr lang="en-US" sz="2000" dirty="0"/>
          </a:p>
          <a:p>
            <a:pPr>
              <a:buNone/>
            </a:pPr>
            <a:r>
              <a:rPr lang="en-US" sz="2000" b="1" u="sng" dirty="0"/>
              <a:t>Contact Person – </a:t>
            </a:r>
          </a:p>
          <a:p>
            <a:pPr>
              <a:buNone/>
            </a:pPr>
            <a:r>
              <a:rPr lang="en-US" sz="2000" dirty="0"/>
              <a:t>Mr. NASIRHUSEN MAHABARI</a:t>
            </a:r>
          </a:p>
          <a:p>
            <a:pPr>
              <a:buNone/>
            </a:pPr>
            <a:r>
              <a:rPr lang="en-US" sz="2000" dirty="0"/>
              <a:t> +91 9130472008</a:t>
            </a:r>
          </a:p>
          <a:p>
            <a:pPr>
              <a:buNone/>
            </a:pPr>
            <a:r>
              <a:rPr lang="en-US" sz="2200" dirty="0">
                <a:hlinkClick r:id="rId2"/>
              </a:rPr>
              <a:t> arise.tools@gmail.com</a:t>
            </a:r>
            <a:endParaRPr lang="en-US" sz="2200" dirty="0"/>
          </a:p>
          <a:p>
            <a:pPr>
              <a:buNone/>
            </a:pPr>
            <a:endParaRPr lang="en-US" sz="3200" dirty="0"/>
          </a:p>
        </p:txBody>
      </p:sp>
      <p:sp>
        <p:nvSpPr>
          <p:cNvPr id="3" name="Title 2"/>
          <p:cNvSpPr>
            <a:spLocks noGrp="1"/>
          </p:cNvSpPr>
          <p:nvPr>
            <p:ph type="title"/>
          </p:nvPr>
        </p:nvSpPr>
        <p:spPr/>
        <p:txBody>
          <a:bodyPr/>
          <a:lstStyle/>
          <a:p>
            <a:r>
              <a:rPr lang="en-US" u="sng" dirty="0">
                <a:solidFill>
                  <a:srgbClr val="00B0F0"/>
                </a:solidFill>
                <a:latin typeface="Algerian" pitchFamily="82" charset="0"/>
              </a:rPr>
              <a:t>Contact us</a:t>
            </a:r>
          </a:p>
        </p:txBody>
      </p:sp>
      <p:pic>
        <p:nvPicPr>
          <p:cNvPr id="5" name="Picture 4" descr="IMG-20171105-WA0046.jpg"/>
          <p:cNvPicPr>
            <a:picLocks noChangeAspect="1"/>
          </p:cNvPicPr>
          <p:nvPr/>
        </p:nvPicPr>
        <p:blipFill>
          <a:blip r:embed="rId3" cstate="print"/>
          <a:stretch>
            <a:fillRect/>
          </a:stretch>
        </p:blipFill>
        <p:spPr>
          <a:xfrm>
            <a:off x="8244000" y="0"/>
            <a:ext cx="900000" cy="900000"/>
          </a:xfrm>
          <a:prstGeom prst="rect">
            <a:avLst/>
          </a:prstGeom>
        </p:spPr>
      </p:pic>
    </p:spTree>
  </p:cSld>
  <p:clrMapOvr>
    <a:masterClrMapping/>
  </p:clrMapOvr>
  <p:transition>
    <p:split orient="vert" dir="in"/>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a:buNone/>
            </a:pPr>
            <a:r>
              <a:rPr lang="en-US" sz="2000" dirty="0"/>
              <a:t>Company Name 	- Arise Machine Tools Solutions</a:t>
            </a:r>
          </a:p>
          <a:p>
            <a:pPr>
              <a:buNone/>
            </a:pPr>
            <a:r>
              <a:rPr lang="en-US" sz="2000" dirty="0"/>
              <a:t>GST NO 		- 27AAZFA3603Q1ZR</a:t>
            </a:r>
          </a:p>
          <a:p>
            <a:pPr>
              <a:buNone/>
            </a:pPr>
            <a:r>
              <a:rPr lang="en-US" sz="2000" dirty="0"/>
              <a:t>PAN No 		- AAZFA3603Q</a:t>
            </a:r>
          </a:p>
          <a:p>
            <a:pPr>
              <a:buNone/>
            </a:pPr>
            <a:endParaRPr lang="en-US" sz="2000" dirty="0"/>
          </a:p>
          <a:p>
            <a:pPr>
              <a:buNone/>
            </a:pPr>
            <a:r>
              <a:rPr lang="en-US" sz="2000" dirty="0"/>
              <a:t>Bank Account Name 	- Arise Machine Tools Solutions</a:t>
            </a:r>
          </a:p>
          <a:p>
            <a:pPr>
              <a:buNone/>
            </a:pPr>
            <a:r>
              <a:rPr lang="en-US" sz="2000" dirty="0"/>
              <a:t>Bank Account Type 	- Current</a:t>
            </a:r>
          </a:p>
          <a:p>
            <a:pPr>
              <a:buNone/>
            </a:pPr>
            <a:r>
              <a:rPr lang="en-US" sz="2000" dirty="0"/>
              <a:t>Bank Name 		- Samarth Sahakari Bank Ltd, Solapur</a:t>
            </a:r>
          </a:p>
          <a:p>
            <a:pPr>
              <a:buNone/>
            </a:pPr>
            <a:r>
              <a:rPr lang="en-US" sz="2000" dirty="0"/>
              <a:t>Branch Name 		- Thermax Chowk, Chinchwad, Pune</a:t>
            </a:r>
          </a:p>
          <a:p>
            <a:pPr>
              <a:buNone/>
            </a:pPr>
            <a:r>
              <a:rPr lang="en-US" sz="2000" dirty="0"/>
              <a:t>Acc No 		- 0070051010000360</a:t>
            </a:r>
          </a:p>
          <a:p>
            <a:pPr>
              <a:buNone/>
            </a:pPr>
            <a:r>
              <a:rPr lang="en-US" sz="2000" dirty="0"/>
              <a:t>MICR CODE 		- 411176253</a:t>
            </a:r>
          </a:p>
          <a:p>
            <a:pPr>
              <a:buNone/>
            </a:pPr>
            <a:r>
              <a:rPr lang="en-US" sz="2000" dirty="0"/>
              <a:t>IFSC Code 		- SBLS0000001</a:t>
            </a:r>
          </a:p>
          <a:p>
            <a:pPr>
              <a:buNone/>
            </a:pPr>
            <a:endParaRPr lang="en-US" sz="2000" dirty="0"/>
          </a:p>
          <a:p>
            <a:pPr>
              <a:buNone/>
            </a:pPr>
            <a:endParaRPr lang="en-US" sz="2000" dirty="0"/>
          </a:p>
          <a:p>
            <a:pPr>
              <a:buNone/>
            </a:pPr>
            <a:endParaRPr lang="en-US" sz="2000" dirty="0"/>
          </a:p>
          <a:p>
            <a:endParaRPr lang="en-US" sz="2000" dirty="0"/>
          </a:p>
          <a:p>
            <a:endParaRPr lang="en-US" sz="2000" dirty="0"/>
          </a:p>
        </p:txBody>
      </p:sp>
      <p:sp>
        <p:nvSpPr>
          <p:cNvPr id="3" name="Title 2"/>
          <p:cNvSpPr>
            <a:spLocks noGrp="1"/>
          </p:cNvSpPr>
          <p:nvPr>
            <p:ph type="title"/>
          </p:nvPr>
        </p:nvSpPr>
        <p:spPr/>
        <p:txBody>
          <a:bodyPr/>
          <a:lstStyle/>
          <a:p>
            <a:r>
              <a:rPr lang="en-US" u="sng" dirty="0">
                <a:solidFill>
                  <a:srgbClr val="00B0F0"/>
                </a:solidFill>
                <a:latin typeface="Algerian" pitchFamily="82" charset="0"/>
              </a:rPr>
              <a:t>OUR COMPANY DETAILS</a:t>
            </a:r>
          </a:p>
        </p:txBody>
      </p:sp>
      <p:pic>
        <p:nvPicPr>
          <p:cNvPr id="5" name="Picture 4" descr="IMG-20171105-WA0046.jpg"/>
          <p:cNvPicPr>
            <a:picLocks noChangeAspect="1"/>
          </p:cNvPicPr>
          <p:nvPr/>
        </p:nvPicPr>
        <p:blipFill>
          <a:blip r:embed="rId2" cstate="print"/>
          <a:stretch>
            <a:fillRect/>
          </a:stretch>
        </p:blipFill>
        <p:spPr>
          <a:xfrm>
            <a:off x="8244000" y="0"/>
            <a:ext cx="900000" cy="900000"/>
          </a:xfrm>
          <a:prstGeom prst="rect">
            <a:avLst/>
          </a:prstGeom>
        </p:spPr>
      </p:pic>
    </p:spTree>
  </p:cSld>
  <p:clrMapOvr>
    <a:masterClrMapping/>
  </p:clrMapOvr>
  <p:transition>
    <p:wipe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u="sng" dirty="0">
                <a:solidFill>
                  <a:srgbClr val="00B0F0"/>
                </a:solidFill>
                <a:latin typeface="Algerian" pitchFamily="82" charset="0"/>
              </a:rPr>
              <a:t>PRODUCT RANGE</a:t>
            </a:r>
            <a:endParaRPr lang="en-US" dirty="0">
              <a:latin typeface="Algerian" pitchFamily="82" charset="0"/>
            </a:endParaRPr>
          </a:p>
        </p:txBody>
      </p:sp>
      <p:pic>
        <p:nvPicPr>
          <p:cNvPr id="1026" name="Picture 2"/>
          <p:cNvPicPr>
            <a:picLocks noGrp="1" noChangeAspect="1" noChangeArrowheads="1"/>
          </p:cNvPicPr>
          <p:nvPr>
            <p:ph idx="1"/>
          </p:nvPr>
        </p:nvPicPr>
        <p:blipFill>
          <a:blip r:embed="rId2"/>
          <a:srcRect l="17816" t="36303" r="53787" b="23290"/>
          <a:stretch>
            <a:fillRect/>
          </a:stretch>
        </p:blipFill>
        <p:spPr bwMode="auto">
          <a:xfrm>
            <a:off x="457200" y="1600200"/>
            <a:ext cx="2286000" cy="1828800"/>
          </a:xfrm>
          <a:prstGeom prst="rect">
            <a:avLst/>
          </a:prstGeom>
          <a:noFill/>
          <a:ln w="9525">
            <a:noFill/>
            <a:miter lim="800000"/>
            <a:headEnd/>
            <a:tailEnd/>
          </a:ln>
          <a:effectLst/>
        </p:spPr>
      </p:pic>
      <p:pic>
        <p:nvPicPr>
          <p:cNvPr id="1027" name="Picture 3"/>
          <p:cNvPicPr>
            <a:picLocks noChangeAspect="1" noChangeArrowheads="1"/>
          </p:cNvPicPr>
          <p:nvPr/>
        </p:nvPicPr>
        <p:blipFill>
          <a:blip r:embed="rId3"/>
          <a:srcRect l="23060" t="41666" r="59370" b="28125"/>
          <a:stretch>
            <a:fillRect/>
          </a:stretch>
        </p:blipFill>
        <p:spPr bwMode="auto">
          <a:xfrm>
            <a:off x="5562600" y="4572000"/>
            <a:ext cx="2286000" cy="2209800"/>
          </a:xfrm>
          <a:prstGeom prst="rect">
            <a:avLst/>
          </a:prstGeom>
          <a:noFill/>
          <a:ln w="9525">
            <a:noFill/>
            <a:miter lim="800000"/>
            <a:headEnd/>
            <a:tailEnd/>
          </a:ln>
          <a:effectLst/>
        </p:spPr>
      </p:pic>
      <p:pic>
        <p:nvPicPr>
          <p:cNvPr id="1028" name="Picture 4"/>
          <p:cNvPicPr>
            <a:picLocks noChangeAspect="1" noChangeArrowheads="1"/>
          </p:cNvPicPr>
          <p:nvPr/>
        </p:nvPicPr>
        <p:blipFill>
          <a:blip r:embed="rId4"/>
          <a:srcRect l="18960" t="34375" r="55271" b="19792"/>
          <a:stretch>
            <a:fillRect/>
          </a:stretch>
        </p:blipFill>
        <p:spPr bwMode="auto">
          <a:xfrm>
            <a:off x="381000" y="3429000"/>
            <a:ext cx="3352800" cy="3352800"/>
          </a:xfrm>
          <a:prstGeom prst="rect">
            <a:avLst/>
          </a:prstGeom>
          <a:noFill/>
          <a:ln w="9525">
            <a:noFill/>
            <a:miter lim="800000"/>
            <a:headEnd/>
            <a:tailEnd/>
          </a:ln>
          <a:effectLst/>
        </p:spPr>
      </p:pic>
      <p:pic>
        <p:nvPicPr>
          <p:cNvPr id="1029" name="Picture 5"/>
          <p:cNvPicPr>
            <a:picLocks noChangeAspect="1" noChangeArrowheads="1"/>
          </p:cNvPicPr>
          <p:nvPr/>
        </p:nvPicPr>
        <p:blipFill>
          <a:blip r:embed="rId5"/>
          <a:srcRect l="13690" t="35417" r="50000" b="21875"/>
          <a:stretch>
            <a:fillRect/>
          </a:stretch>
        </p:blipFill>
        <p:spPr bwMode="auto">
          <a:xfrm>
            <a:off x="3733800" y="1447800"/>
            <a:ext cx="4724400" cy="3124200"/>
          </a:xfrm>
          <a:prstGeom prst="rect">
            <a:avLst/>
          </a:prstGeom>
          <a:noFill/>
          <a:ln w="9525">
            <a:noFill/>
            <a:miter lim="800000"/>
            <a:headEnd/>
            <a:tailEnd/>
          </a:ln>
          <a:effectLst/>
        </p:spPr>
      </p:pic>
      <p:pic>
        <p:nvPicPr>
          <p:cNvPr id="8" name="Picture 7" descr="IMG-20171105-WA0046.jpg"/>
          <p:cNvPicPr>
            <a:picLocks noChangeAspect="1"/>
          </p:cNvPicPr>
          <p:nvPr/>
        </p:nvPicPr>
        <p:blipFill>
          <a:blip r:embed="rId6" cstate="print"/>
          <a:stretch>
            <a:fillRect/>
          </a:stretch>
        </p:blipFill>
        <p:spPr>
          <a:xfrm>
            <a:off x="8244000" y="0"/>
            <a:ext cx="900000" cy="900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u="sng" dirty="0">
                <a:solidFill>
                  <a:srgbClr val="00B0F0"/>
                </a:solidFill>
                <a:latin typeface="Algerian" pitchFamily="82" charset="0"/>
              </a:rPr>
              <a:t>PRODUCT RANGE</a:t>
            </a:r>
            <a:endParaRPr lang="en-US" dirty="0">
              <a:latin typeface="Algerian" pitchFamily="82" charset="0"/>
            </a:endParaRPr>
          </a:p>
        </p:txBody>
      </p:sp>
      <p:pic>
        <p:nvPicPr>
          <p:cNvPr id="8" name="Picture 7" descr="IMG-20171105-WA0046.jpg"/>
          <p:cNvPicPr>
            <a:picLocks noChangeAspect="1"/>
          </p:cNvPicPr>
          <p:nvPr/>
        </p:nvPicPr>
        <p:blipFill>
          <a:blip r:embed="rId2" cstate="print"/>
          <a:stretch>
            <a:fillRect/>
          </a:stretch>
        </p:blipFill>
        <p:spPr>
          <a:xfrm>
            <a:off x="8244000" y="0"/>
            <a:ext cx="900000" cy="900000"/>
          </a:xfrm>
          <a:prstGeom prst="rect">
            <a:avLst/>
          </a:prstGeom>
        </p:spPr>
      </p:pic>
      <p:pic>
        <p:nvPicPr>
          <p:cNvPr id="2050" name="Picture 2"/>
          <p:cNvPicPr>
            <a:picLocks noChangeAspect="1" noChangeArrowheads="1"/>
          </p:cNvPicPr>
          <p:nvPr/>
        </p:nvPicPr>
        <p:blipFill>
          <a:blip r:embed="rId3"/>
          <a:srcRect l="22255" t="33333" r="49048" b="20833"/>
          <a:stretch>
            <a:fillRect/>
          </a:stretch>
        </p:blipFill>
        <p:spPr bwMode="auto">
          <a:xfrm>
            <a:off x="381000" y="1447800"/>
            <a:ext cx="2545773" cy="2286000"/>
          </a:xfrm>
          <a:prstGeom prst="rect">
            <a:avLst/>
          </a:prstGeom>
          <a:noFill/>
          <a:ln w="9525">
            <a:noFill/>
            <a:miter lim="800000"/>
            <a:headEnd/>
            <a:tailEnd/>
          </a:ln>
          <a:effectLst/>
        </p:spPr>
      </p:pic>
      <p:pic>
        <p:nvPicPr>
          <p:cNvPr id="2051" name="Picture 3"/>
          <p:cNvPicPr>
            <a:picLocks noGrp="1" noChangeAspect="1" noChangeArrowheads="1"/>
          </p:cNvPicPr>
          <p:nvPr>
            <p:ph idx="1"/>
          </p:nvPr>
        </p:nvPicPr>
        <p:blipFill>
          <a:blip r:embed="rId4"/>
          <a:srcRect l="18763" t="32936" r="55679" b="19923"/>
          <a:stretch>
            <a:fillRect/>
          </a:stretch>
        </p:blipFill>
        <p:spPr bwMode="auto">
          <a:xfrm rot="10800000">
            <a:off x="3200400" y="1600200"/>
            <a:ext cx="2057400" cy="2133600"/>
          </a:xfrm>
          <a:prstGeom prst="rect">
            <a:avLst/>
          </a:prstGeom>
          <a:noFill/>
          <a:ln w="9525">
            <a:noFill/>
            <a:miter lim="800000"/>
            <a:headEnd/>
            <a:tailEnd/>
          </a:ln>
          <a:effectLst/>
        </p:spPr>
      </p:pic>
      <p:pic>
        <p:nvPicPr>
          <p:cNvPr id="2052" name="Picture 4"/>
          <p:cNvPicPr>
            <a:picLocks noChangeAspect="1" noChangeArrowheads="1"/>
          </p:cNvPicPr>
          <p:nvPr/>
        </p:nvPicPr>
        <p:blipFill>
          <a:blip r:embed="rId5"/>
          <a:srcRect l="18960" t="33333" r="54686" b="19792"/>
          <a:stretch>
            <a:fillRect/>
          </a:stretch>
        </p:blipFill>
        <p:spPr bwMode="auto">
          <a:xfrm>
            <a:off x="685800" y="3733800"/>
            <a:ext cx="2895600" cy="2895600"/>
          </a:xfrm>
          <a:prstGeom prst="rect">
            <a:avLst/>
          </a:prstGeom>
          <a:noFill/>
          <a:ln w="9525">
            <a:noFill/>
            <a:miter lim="800000"/>
            <a:headEnd/>
            <a:tailEnd/>
          </a:ln>
          <a:effectLst/>
        </p:spPr>
      </p:pic>
      <p:pic>
        <p:nvPicPr>
          <p:cNvPr id="2053" name="Picture 5"/>
          <p:cNvPicPr>
            <a:picLocks noChangeAspect="1" noChangeArrowheads="1"/>
          </p:cNvPicPr>
          <p:nvPr/>
        </p:nvPicPr>
        <p:blipFill>
          <a:blip r:embed="rId6"/>
          <a:srcRect l="23060" t="41667" r="59370" b="28125"/>
          <a:stretch>
            <a:fillRect/>
          </a:stretch>
        </p:blipFill>
        <p:spPr bwMode="auto">
          <a:xfrm>
            <a:off x="6553200" y="4038600"/>
            <a:ext cx="2286000" cy="2209800"/>
          </a:xfrm>
          <a:prstGeom prst="rect">
            <a:avLst/>
          </a:prstGeom>
          <a:noFill/>
          <a:ln w="9525">
            <a:noFill/>
            <a:miter lim="800000"/>
            <a:headEnd/>
            <a:tailEnd/>
          </a:ln>
          <a:effectLst/>
        </p:spPr>
      </p:pic>
      <p:pic>
        <p:nvPicPr>
          <p:cNvPr id="2054" name="Picture 6"/>
          <p:cNvPicPr>
            <a:picLocks noChangeAspect="1" noChangeArrowheads="1"/>
          </p:cNvPicPr>
          <p:nvPr/>
        </p:nvPicPr>
        <p:blipFill>
          <a:blip r:embed="rId7"/>
          <a:srcRect l="23060" t="41667" r="59956" b="27083"/>
          <a:stretch>
            <a:fillRect/>
          </a:stretch>
        </p:blipFill>
        <p:spPr bwMode="auto">
          <a:xfrm rot="10800000">
            <a:off x="3810000" y="3886200"/>
            <a:ext cx="2209800" cy="2286000"/>
          </a:xfrm>
          <a:prstGeom prst="rect">
            <a:avLst/>
          </a:prstGeom>
          <a:noFill/>
          <a:ln w="9525">
            <a:noFill/>
            <a:miter lim="800000"/>
            <a:headEnd/>
            <a:tailEnd/>
          </a:ln>
          <a:effectLst/>
        </p:spPr>
      </p:pic>
      <p:pic>
        <p:nvPicPr>
          <p:cNvPr id="2055" name="Picture 7"/>
          <p:cNvPicPr>
            <a:picLocks noChangeAspect="1" noChangeArrowheads="1"/>
          </p:cNvPicPr>
          <p:nvPr/>
        </p:nvPicPr>
        <p:blipFill>
          <a:blip r:embed="rId8"/>
          <a:srcRect l="18741" t="33333" r="54905" b="19792"/>
          <a:stretch>
            <a:fillRect/>
          </a:stretch>
        </p:blipFill>
        <p:spPr bwMode="auto">
          <a:xfrm>
            <a:off x="5638800" y="914400"/>
            <a:ext cx="2743200" cy="2743200"/>
          </a:xfrm>
          <a:prstGeom prst="rect">
            <a:avLst/>
          </a:prstGeom>
          <a:noFill/>
          <a:ln w="9525">
            <a:noFill/>
            <a:miter lim="800000"/>
            <a:headEnd/>
            <a:tailEnd/>
          </a:ln>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u="sng" dirty="0">
                <a:solidFill>
                  <a:srgbClr val="00B0F0"/>
                </a:solidFill>
                <a:latin typeface="Algerian" pitchFamily="82" charset="0"/>
              </a:rPr>
              <a:t>PRODUCT RANGE</a:t>
            </a:r>
            <a:endParaRPr lang="en-US" dirty="0">
              <a:latin typeface="Algerian" pitchFamily="82" charset="0"/>
            </a:endParaRPr>
          </a:p>
        </p:txBody>
      </p:sp>
      <p:pic>
        <p:nvPicPr>
          <p:cNvPr id="8" name="Picture 7" descr="IMG-20171105-WA0046.jpg"/>
          <p:cNvPicPr>
            <a:picLocks noChangeAspect="1"/>
          </p:cNvPicPr>
          <p:nvPr/>
        </p:nvPicPr>
        <p:blipFill>
          <a:blip r:embed="rId2" cstate="print"/>
          <a:stretch>
            <a:fillRect/>
          </a:stretch>
        </p:blipFill>
        <p:spPr>
          <a:xfrm>
            <a:off x="8244000" y="0"/>
            <a:ext cx="900000" cy="900000"/>
          </a:xfrm>
          <a:prstGeom prst="rect">
            <a:avLst/>
          </a:prstGeom>
        </p:spPr>
      </p:pic>
      <p:pic>
        <p:nvPicPr>
          <p:cNvPr id="3075" name="Picture 3"/>
          <p:cNvPicPr>
            <a:picLocks noChangeAspect="1" noChangeArrowheads="1"/>
          </p:cNvPicPr>
          <p:nvPr/>
        </p:nvPicPr>
        <p:blipFill>
          <a:blip r:embed="rId3"/>
          <a:srcRect l="19912" t="43750" r="56076" b="30208"/>
          <a:stretch>
            <a:fillRect/>
          </a:stretch>
        </p:blipFill>
        <p:spPr bwMode="auto">
          <a:xfrm>
            <a:off x="533400" y="1524000"/>
            <a:ext cx="3124200" cy="1905000"/>
          </a:xfrm>
          <a:prstGeom prst="rect">
            <a:avLst/>
          </a:prstGeom>
          <a:noFill/>
          <a:ln w="9525">
            <a:noFill/>
            <a:miter lim="800000"/>
            <a:headEnd/>
            <a:tailEnd/>
          </a:ln>
          <a:effectLst/>
        </p:spPr>
      </p:pic>
      <p:pic>
        <p:nvPicPr>
          <p:cNvPr id="3076" name="Picture 4"/>
          <p:cNvPicPr>
            <a:picLocks noGrp="1" noChangeAspect="1" noChangeArrowheads="1"/>
          </p:cNvPicPr>
          <p:nvPr>
            <p:ph idx="1"/>
          </p:nvPr>
        </p:nvPicPr>
        <p:blipFill>
          <a:blip r:embed="rId4"/>
          <a:srcRect l="20657" t="44722" r="56626" b="30024"/>
          <a:stretch>
            <a:fillRect/>
          </a:stretch>
        </p:blipFill>
        <p:spPr bwMode="auto">
          <a:xfrm>
            <a:off x="762000" y="3581400"/>
            <a:ext cx="2926080" cy="1828800"/>
          </a:xfrm>
          <a:prstGeom prst="rect">
            <a:avLst/>
          </a:prstGeom>
          <a:noFill/>
          <a:ln w="9525">
            <a:noFill/>
            <a:miter lim="800000"/>
            <a:headEnd/>
            <a:tailEnd/>
          </a:ln>
          <a:effectLst/>
        </p:spPr>
      </p:pic>
      <p:pic>
        <p:nvPicPr>
          <p:cNvPr id="3077" name="Picture 5"/>
          <p:cNvPicPr>
            <a:picLocks noChangeAspect="1" noChangeArrowheads="1"/>
          </p:cNvPicPr>
          <p:nvPr/>
        </p:nvPicPr>
        <p:blipFill>
          <a:blip r:embed="rId5"/>
          <a:srcRect l="17204" t="33333" r="52928" b="19792"/>
          <a:stretch>
            <a:fillRect/>
          </a:stretch>
        </p:blipFill>
        <p:spPr bwMode="auto">
          <a:xfrm>
            <a:off x="4495800" y="1752600"/>
            <a:ext cx="3886200" cy="3429000"/>
          </a:xfrm>
          <a:prstGeom prst="rect">
            <a:avLst/>
          </a:prstGeom>
          <a:noFill/>
          <a:ln w="9525">
            <a:noFill/>
            <a:miter lim="800000"/>
            <a:headEnd/>
            <a:tailEnd/>
          </a:ln>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u="sng" dirty="0">
                <a:solidFill>
                  <a:srgbClr val="00B0F0"/>
                </a:solidFill>
                <a:latin typeface="Algerian" pitchFamily="82" charset="0"/>
              </a:rPr>
              <a:t>PRODUCT RANGE</a:t>
            </a:r>
            <a:endParaRPr lang="en-US" dirty="0">
              <a:latin typeface="Algerian" pitchFamily="82" charset="0"/>
            </a:endParaRPr>
          </a:p>
        </p:txBody>
      </p:sp>
      <p:pic>
        <p:nvPicPr>
          <p:cNvPr id="8" name="Picture 7" descr="IMG-20171105-WA0046.jpg"/>
          <p:cNvPicPr>
            <a:picLocks noChangeAspect="1"/>
          </p:cNvPicPr>
          <p:nvPr/>
        </p:nvPicPr>
        <p:blipFill>
          <a:blip r:embed="rId2" cstate="print"/>
          <a:stretch>
            <a:fillRect/>
          </a:stretch>
        </p:blipFill>
        <p:spPr>
          <a:xfrm>
            <a:off x="8244000" y="0"/>
            <a:ext cx="900000" cy="900000"/>
          </a:xfrm>
          <a:prstGeom prst="rect">
            <a:avLst/>
          </a:prstGeom>
        </p:spPr>
      </p:pic>
      <p:sp>
        <p:nvSpPr>
          <p:cNvPr id="9" name="Content Placeholder 8"/>
          <p:cNvSpPr>
            <a:spLocks noGrp="1"/>
          </p:cNvSpPr>
          <p:nvPr>
            <p:ph idx="1"/>
          </p:nvPr>
        </p:nvSpPr>
        <p:spPr/>
        <p:txBody>
          <a:bodyPr>
            <a:normAutofit lnSpcReduction="10000"/>
          </a:bodyPr>
          <a:lstStyle/>
          <a:p>
            <a:r>
              <a:rPr lang="en-US" sz="2000" dirty="0"/>
              <a:t>LUMIPRO ECO FRIENDLY RUST REMOVER</a:t>
            </a:r>
          </a:p>
          <a:p>
            <a:r>
              <a:rPr lang="en-US" sz="2000" dirty="0"/>
              <a:t>LUMICLEAN OIL AND GREASE CLEANER</a:t>
            </a:r>
          </a:p>
          <a:p>
            <a:r>
              <a:rPr lang="en-US" sz="2000" dirty="0"/>
              <a:t>PAINT STRIPPER</a:t>
            </a:r>
          </a:p>
          <a:p>
            <a:r>
              <a:rPr lang="en-US" sz="2000" dirty="0"/>
              <a:t>MULTI USE SPRAY</a:t>
            </a:r>
          </a:p>
          <a:p>
            <a:r>
              <a:rPr lang="en-US" sz="2000" dirty="0"/>
              <a:t>RUST PREVENTIVE OIL</a:t>
            </a:r>
          </a:p>
          <a:p>
            <a:r>
              <a:rPr lang="en-US" sz="2000" dirty="0"/>
              <a:t>RUBBER LUBRICANT</a:t>
            </a:r>
          </a:p>
          <a:p>
            <a:r>
              <a:rPr lang="en-US" sz="2000" dirty="0"/>
              <a:t>CUTTING OIL</a:t>
            </a:r>
          </a:p>
          <a:p>
            <a:r>
              <a:rPr lang="en-US" sz="2000" dirty="0"/>
              <a:t>ANTI SPATTER GEL</a:t>
            </a:r>
          </a:p>
          <a:p>
            <a:r>
              <a:rPr lang="en-US" sz="2000" dirty="0"/>
              <a:t>ANTI SPATTER PEST</a:t>
            </a:r>
          </a:p>
          <a:p>
            <a:r>
              <a:rPr lang="en-US" sz="2000" dirty="0"/>
              <a:t>ELECTRONIC COMPONENT CLEANER</a:t>
            </a:r>
          </a:p>
          <a:p>
            <a:r>
              <a:rPr lang="en-US" sz="2000" dirty="0"/>
              <a:t>DE FOAMING AGENT</a:t>
            </a:r>
          </a:p>
          <a:p>
            <a:r>
              <a:rPr lang="en-US" sz="2000" dirty="0"/>
              <a:t>HEAT EXCHANGER CLEANER</a:t>
            </a:r>
          </a:p>
          <a:p>
            <a:r>
              <a:rPr lang="en-US" sz="2000" dirty="0"/>
              <a:t>WATER SOLUBLE CLEANING MEDIA</a:t>
            </a:r>
          </a:p>
          <a:p>
            <a:endParaRPr lang="en-US" dirty="0"/>
          </a:p>
        </p:txBody>
      </p:sp>
      <p:pic>
        <p:nvPicPr>
          <p:cNvPr id="1026" name="Picture 2"/>
          <p:cNvPicPr>
            <a:picLocks noChangeAspect="1" noChangeArrowheads="1"/>
          </p:cNvPicPr>
          <p:nvPr/>
        </p:nvPicPr>
        <p:blipFill>
          <a:blip r:embed="rId3"/>
          <a:srcRect l="14641" t="40625" r="50220" b="27084"/>
          <a:stretch>
            <a:fillRect/>
          </a:stretch>
        </p:blipFill>
        <p:spPr bwMode="auto">
          <a:xfrm>
            <a:off x="4648200" y="2286000"/>
            <a:ext cx="3886200" cy="2007870"/>
          </a:xfrm>
          <a:prstGeom prst="rect">
            <a:avLst/>
          </a:prstGeom>
          <a:noFill/>
          <a:ln w="9525">
            <a:noFill/>
            <a:miter lim="800000"/>
            <a:headEnd/>
            <a:tailEnd/>
          </a:ln>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algn="ctr">
              <a:buNone/>
            </a:pPr>
            <a:endParaRPr lang="en-US" sz="8800" dirty="0">
              <a:solidFill>
                <a:srgbClr val="00B0F0"/>
              </a:solidFill>
              <a:latin typeface="Algerian" pitchFamily="82" charset="0"/>
            </a:endParaRPr>
          </a:p>
          <a:p>
            <a:pPr algn="ctr">
              <a:buNone/>
            </a:pPr>
            <a:r>
              <a:rPr lang="en-US" sz="8800" u="sng" dirty="0">
                <a:solidFill>
                  <a:srgbClr val="00B0F0"/>
                </a:solidFill>
                <a:latin typeface="Algerian" pitchFamily="82" charset="0"/>
              </a:rPr>
              <a:t>THANK YOU</a:t>
            </a:r>
          </a:p>
        </p:txBody>
      </p:sp>
      <p:pic>
        <p:nvPicPr>
          <p:cNvPr id="5" name="Picture 4" descr="IMG-20171105-WA0046.jpg"/>
          <p:cNvPicPr>
            <a:picLocks noChangeAspect="1"/>
          </p:cNvPicPr>
          <p:nvPr/>
        </p:nvPicPr>
        <p:blipFill>
          <a:blip r:embed="rId2" cstate="print"/>
          <a:stretch>
            <a:fillRect/>
          </a:stretch>
        </p:blipFill>
        <p:spPr>
          <a:xfrm>
            <a:off x="8244000" y="0"/>
            <a:ext cx="900000" cy="900000"/>
          </a:xfrm>
          <a:prstGeom prst="rect">
            <a:avLst/>
          </a:prstGeom>
        </p:spPr>
      </p:pic>
    </p:spTree>
  </p:cSld>
  <p:clrMapOvr>
    <a:masterClrMapping/>
  </p:clrMapOvr>
  <p:transition>
    <p:wipe dir="d"/>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95000" t="-106500" r="5000" b="2065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664</TotalTime>
  <Words>643</Words>
  <Application>Microsoft Office PowerPoint</Application>
  <PresentationFormat>On-screen Show (4:3)</PresentationFormat>
  <Paragraphs>103</Paragraphs>
  <Slides>13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Algerian</vt:lpstr>
      <vt:lpstr>Calibri</vt:lpstr>
      <vt:lpstr>Lucida Sans Unicode</vt:lpstr>
      <vt:lpstr>Verdana</vt:lpstr>
      <vt:lpstr>Wingdings 2</vt:lpstr>
      <vt:lpstr>Wingdings 3</vt:lpstr>
      <vt:lpstr>Concourse</vt:lpstr>
      <vt:lpstr>PowerPoint Presentation</vt:lpstr>
      <vt:lpstr> ARISE MACHINE TOOLS SOLUTIONS</vt:lpstr>
      <vt:lpstr>            OUR VISION AND MISSION</vt:lpstr>
      <vt:lpstr>Team  Spirit</vt:lpstr>
      <vt:lpstr>quality  POLICY</vt:lpstr>
      <vt:lpstr>Safety  Policy</vt:lpstr>
      <vt:lpstr>Contact us</vt:lpstr>
      <vt:lpstr>OUR COMPANY DETAILS</vt:lpstr>
      <vt:lpstr>PRODUCT RANGE</vt:lpstr>
      <vt:lpstr>PRODUCT RANGE</vt:lpstr>
      <vt:lpstr>PRODUCT RANGE</vt:lpstr>
      <vt:lpstr>PRODUCT RANGE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AMTS</dc:title>
  <dc:creator>Arise Machine Tools</dc:creator>
  <cp:lastModifiedBy>Admin</cp:lastModifiedBy>
  <cp:revision>162</cp:revision>
  <dcterms:created xsi:type="dcterms:W3CDTF">2006-08-16T00:00:00Z</dcterms:created>
  <dcterms:modified xsi:type="dcterms:W3CDTF">2025-05-04T08:14:13Z</dcterms:modified>
</cp:coreProperties>
</file>